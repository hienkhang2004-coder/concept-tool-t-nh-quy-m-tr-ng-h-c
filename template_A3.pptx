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828000" cy="10692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ẢNH PHỐI CẢNH CHÍNH</a:t>
            </a:r>
          </a:p>
        </p:txBody>
      </p:sp>
      <p:sp>
        <p:nvSpPr>
          <p:cNvPr id="4" name="Rectangle 3"/>
          <p:cNvSpPr/>
          <p:nvPr/>
        </p:nvSpPr>
        <p:spPr>
          <a:xfrm>
            <a:off x="9828000" y="0"/>
            <a:ext cx="5292000" cy="1069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28000" y="1080000"/>
            <a:ext cx="144000" cy="144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8000" y="1260000"/>
            <a:ext cx="43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C5CE7"/>
                </a:solidFill>
                <a:latin typeface="Arial"/>
              </a:defRPr>
            </a:pPr>
            <a:r>
              <a:t>{{capTruong}}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8000" y="1692000"/>
            <a:ext cx="43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{{tenDA}}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68000" y="2772000"/>
            <a:ext cx="1080000" cy="288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68000" y="2988000"/>
            <a:ext cx="43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CA3B8"/>
                </a:solidFill>
                <a:latin typeface="Arial"/>
              </a:defRPr>
            </a:pPr>
            <a:r>
              <a:t>Địa điểm: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8000" y="3168000"/>
            <a:ext cx="43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{{diaDiem}}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8000" y="3528000"/>
            <a:ext cx="43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CA3B8"/>
                </a:solidFill>
                <a:latin typeface="Arial"/>
              </a:defRPr>
            </a:pPr>
            <a:r>
              <a:t>Chủ đầu tư: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8000" y="3708000"/>
            <a:ext cx="43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{{chuDT}}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8000" y="4068000"/>
            <a:ext cx="43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CA3B8"/>
                </a:solidFill>
                <a:latin typeface="Arial"/>
              </a:defRPr>
            </a:pPr>
            <a:r>
              <a:t>Đơn vị tư vấn: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8000" y="4248000"/>
            <a:ext cx="43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{{dvTK}}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8000" y="4608000"/>
            <a:ext cx="43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CA3B8"/>
                </a:solidFill>
                <a:latin typeface="Arial"/>
              </a:defRPr>
            </a:pPr>
            <a:r>
              <a:t>Quy mô: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8000" y="4788000"/>
            <a:ext cx="43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{{totalHS}} học sinh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8000" y="9972000"/>
            <a:ext cx="43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5CE7"/>
                </a:solidFill>
                <a:latin typeface="Arial"/>
              </a:defRPr>
            </a:pPr>
            <a:r>
              <a:t>Concept²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76000"/>
            <a:ext cx="1404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3436"/>
                </a:solidFill>
                <a:latin typeface="Arial"/>
              </a:defRPr>
            </a:pPr>
            <a:r>
              <a:t>MỤC LỤC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116000"/>
            <a:ext cx="1800000" cy="54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440000"/>
            <a:ext cx="432000" cy="4320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1440000"/>
            <a:ext cx="13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Arial"/>
              </a:defRPr>
            </a:pPr>
            <a:r>
              <a:t>CƠ SỞ PHÁP LÝ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000" y="1692000"/>
            <a:ext cx="13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178"/>
                </a:solidFill>
                <a:latin typeface="Arial"/>
              </a:defRPr>
            </a:pPr>
            <a:r>
              <a:t>Căn cứ pháp lý · Tiêu chuẩn thiết kế</a:t>
            </a:r>
          </a:p>
        </p:txBody>
      </p:sp>
      <p:sp>
        <p:nvSpPr>
          <p:cNvPr id="11" name="Oval 10"/>
          <p:cNvSpPr/>
          <p:nvPr/>
        </p:nvSpPr>
        <p:spPr>
          <a:xfrm>
            <a:off x="540000" y="2160000"/>
            <a:ext cx="432000" cy="4320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2160000"/>
            <a:ext cx="13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Arial"/>
              </a:defRPr>
            </a:pPr>
            <a:r>
              <a:t>PHÂN TÍCH HIỆN TRẠNG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" y="2412000"/>
            <a:ext cx="13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178"/>
                </a:solidFill>
                <a:latin typeface="Arial"/>
              </a:defRPr>
            </a:pPr>
            <a:r>
              <a:t>Vị trí · Vi khí hậu · Hiện trạng khu đất</a:t>
            </a:r>
          </a:p>
        </p:txBody>
      </p:sp>
      <p:sp>
        <p:nvSpPr>
          <p:cNvPr id="14" name="Oval 13"/>
          <p:cNvSpPr/>
          <p:nvPr/>
        </p:nvSpPr>
        <p:spPr>
          <a:xfrm>
            <a:off x="540000" y="2880000"/>
            <a:ext cx="432000" cy="4320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000" y="2880000"/>
            <a:ext cx="13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Arial"/>
              </a:defRPr>
            </a:pPr>
            <a:r>
              <a:t>GIẢI PHÁP THIẾT KẾ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3132000"/>
            <a:ext cx="13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178"/>
                </a:solidFill>
                <a:latin typeface="Arial"/>
              </a:defRPr>
            </a:pPr>
            <a:r>
              <a:t>Ý tưởng thiết kế</a:t>
            </a:r>
          </a:p>
        </p:txBody>
      </p:sp>
      <p:sp>
        <p:nvSpPr>
          <p:cNvPr id="17" name="Oval 16"/>
          <p:cNvSpPr/>
          <p:nvPr/>
        </p:nvSpPr>
        <p:spPr>
          <a:xfrm>
            <a:off x="540000" y="3600000"/>
            <a:ext cx="432000" cy="4320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3600000"/>
            <a:ext cx="13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Arial"/>
              </a:defRPr>
            </a:pPr>
            <a:r>
              <a:t>QUY MÔ DỰ ÁN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000" y="3852000"/>
            <a:ext cx="13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178"/>
                </a:solidFill>
                <a:latin typeface="Arial"/>
              </a:defRPr>
            </a:pPr>
            <a:r>
              <a:t>Học sinh · CBGV · Phòng CN · Cơ cấu đất</a:t>
            </a:r>
          </a:p>
        </p:txBody>
      </p:sp>
      <p:sp>
        <p:nvSpPr>
          <p:cNvPr id="20" name="Oval 19"/>
          <p:cNvSpPr/>
          <p:nvPr/>
        </p:nvSpPr>
        <p:spPr>
          <a:xfrm>
            <a:off x="540000" y="4320000"/>
            <a:ext cx="432000" cy="4320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000" y="4320000"/>
            <a:ext cx="13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Arial"/>
              </a:defRPr>
            </a:pPr>
            <a:r>
              <a:t>PHƯƠNG ÁN THIẾT KẾ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000" y="4572000"/>
            <a:ext cx="13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178"/>
                </a:solidFill>
                <a:latin typeface="Arial"/>
              </a:defRPr>
            </a:pPr>
            <a:r>
              <a:t>Tổng mặt bằng · Phối cảnh · Mặt đứng</a:t>
            </a:r>
          </a:p>
        </p:txBody>
      </p:sp>
      <p:sp>
        <p:nvSpPr>
          <p:cNvPr id="23" name="Oval 22"/>
          <p:cNvSpPr/>
          <p:nvPr/>
        </p:nvSpPr>
        <p:spPr>
          <a:xfrm>
            <a:off x="540000" y="5040000"/>
            <a:ext cx="432000" cy="4320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VI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000" y="5040000"/>
            <a:ext cx="13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Arial"/>
              </a:defRPr>
            </a:pPr>
            <a:r>
              <a:t>BẢN VẼ KỸ THUẬT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000" y="5292000"/>
            <a:ext cx="13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178"/>
                </a:solidFill>
                <a:latin typeface="Arial"/>
              </a:defRPr>
            </a:pPr>
            <a:r>
              <a:t>Mặt bằng tầng · Mặt cắt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I. CƠ SỞ PHÁP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404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3436"/>
                </a:solidFill>
                <a:latin typeface="Arial"/>
              </a:defRPr>
            </a:pPr>
            <a:r>
              <a:t>CĂN CỨ PHÁP LÝ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800000" cy="54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368000"/>
            <a:ext cx="32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5CE7"/>
                </a:solidFill>
                <a:latin typeface="Arial"/>
              </a:defRPr>
            </a:pPr>
            <a:r>
              <a:t>TT 13/2020/TT-BGDĐT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0" y="1368000"/>
            <a:ext cx="1008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6"/>
                </a:solidFill>
                <a:latin typeface="Arial"/>
              </a:defRPr>
            </a:pPr>
            <a:r>
              <a:t>Tiêu chuẩn cơ sở vật chất trường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764000"/>
            <a:ext cx="32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5CE7"/>
                </a:solidFill>
                <a:latin typeface="Arial"/>
              </a:defRPr>
            </a:pPr>
            <a:r>
              <a:t>TT 17/2018/TT-BGDĐT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0" y="1764000"/>
            <a:ext cx="1008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6"/>
                </a:solidFill>
                <a:latin typeface="Arial"/>
              </a:defRPr>
            </a:pPr>
            <a:r>
              <a:t>Tiêu chuẩn trường đạt chuẩn quốc 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160000"/>
            <a:ext cx="32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5CE7"/>
                </a:solidFill>
                <a:latin typeface="Arial"/>
              </a:defRPr>
            </a:pPr>
            <a:r>
              <a:t>Luật Giáo dục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0" y="2160000"/>
            <a:ext cx="1008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6"/>
                </a:solidFill>
                <a:latin typeface="Arial"/>
              </a:defRPr>
            </a:pPr>
            <a:r>
              <a:t>Luật số 43/2019/QH14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56000"/>
            <a:ext cx="32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5CE7"/>
                </a:solidFill>
                <a:latin typeface="Arial"/>
              </a:defRPr>
            </a:pPr>
            <a:r>
              <a:t>TCVN 8793:2011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0" y="2556000"/>
            <a:ext cx="1008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6"/>
                </a:solidFill>
                <a:latin typeface="Arial"/>
              </a:defRPr>
            </a:pPr>
            <a:r>
              <a:t>Trường tiểu học - Yêu cầu thiết kế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2952000"/>
            <a:ext cx="32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5CE7"/>
                </a:solidFill>
                <a:latin typeface="Arial"/>
              </a:defRPr>
            </a:pPr>
            <a:r>
              <a:t>TCVN 8794:2011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2952000"/>
            <a:ext cx="1008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6"/>
                </a:solidFill>
                <a:latin typeface="Arial"/>
              </a:defRPr>
            </a:pPr>
            <a:r>
              <a:t>Trường THCS, THPT - Yêu cầu thiết kế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3348000"/>
            <a:ext cx="32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5CE7"/>
                </a:solidFill>
                <a:latin typeface="Arial"/>
              </a:defRPr>
            </a:pPr>
            <a:r>
              <a:t>QCVN 01:2021/BXD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0" y="3348000"/>
            <a:ext cx="1008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6"/>
                </a:solidFill>
                <a:latin typeface="Arial"/>
              </a:defRPr>
            </a:pPr>
            <a:r>
              <a:t>Quy hoạch xây dựng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744000"/>
            <a:ext cx="32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5CE7"/>
                </a:solidFill>
                <a:latin typeface="Arial"/>
              </a:defRPr>
            </a:pPr>
            <a:r>
              <a:t>TCVN 4319:2012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0000" y="3744000"/>
            <a:ext cx="1008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6"/>
                </a:solidFill>
                <a:latin typeface="Arial"/>
              </a:defRPr>
            </a:pPr>
            <a:r>
              <a:t>Nhà và công trình công cộng - Nguyên tắc cơ bản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4140000"/>
            <a:ext cx="32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5CE7"/>
                </a:solidFill>
                <a:latin typeface="Arial"/>
              </a:defRPr>
            </a:pPr>
            <a:r>
              <a:t>QCVN 06:2022/BXD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0000" y="4140000"/>
            <a:ext cx="1008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6"/>
                </a:solidFill>
                <a:latin typeface="Arial"/>
              </a:defRPr>
            </a:pPr>
            <a:r>
              <a:t>An toàn cháy cho nhà và công trình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I. CƠ SỞ PHÁP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404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3436"/>
                </a:solidFill>
                <a:latin typeface="Arial"/>
              </a:defRPr>
            </a:pPr>
            <a:r>
              <a:t>TIÊU CHUẨN THIẾT KẾ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800000" cy="54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368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Chuẩn quốc gia: {{chuanQG}}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728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Cấp trường: {{capTruong}}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088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Tiêu chuẩn áp dụng: {{tcvn}}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2808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Sĩ số tối đa/lớp: 45 HS (TT13/2020 Điều 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168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Diện tích phòng học: 1.25 m²/HS (TCVN 8794)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528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Sân chơi: 2.0 - 4.0 m²/HS (TT13/2020 Điều 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888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Cây xanh: 1.5 - 2.5 m²/HS (TT13/2020 Điều 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248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Mật độ xây dựng tối đa: 40% (QCVN 01:2021)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II. PHÂN TÍCH HIỆN TRẠNG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8000"/>
            <a:ext cx="14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436"/>
                </a:solidFill>
                <a:latin typeface="Arial"/>
              </a:defRPr>
            </a:pPr>
            <a:r>
              <a:t>VỊ TRÍ KHU ĐẤT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720000"/>
            <a:ext cx="14040000" cy="9324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1 ảnh bản đồ vị trí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9900000"/>
            <a:ext cx="13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Arial"/>
              </a:defRPr>
            </a:pPr>
            <a:r>
              <a:t>{{diaDiem}}  |  {{dt}}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II. PHÂN TÍCH HIỆN TRẠNG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404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3436"/>
                </a:solidFill>
                <a:latin typeface="Arial"/>
              </a:defRPr>
            </a:pPr>
            <a:r>
              <a:t>PHÂN TÍCH VI KHÍ HẬU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800000" cy="54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296000"/>
            <a:ext cx="6948000" cy="8820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2 ảnh: hướng gió + hướng nắng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2000" y="1296000"/>
            <a:ext cx="6948000" cy="8820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2 ảnh: hướng gió + hướng nắng (2/2)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II. PHÂN TÍCH HIỆN TRẠNG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404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3436"/>
                </a:solidFill>
                <a:latin typeface="Arial"/>
              </a:defRPr>
            </a:pPr>
            <a:r>
              <a:t>HIỆN TRẠNG KHU ĐẤT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800000" cy="54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296000"/>
            <a:ext cx="6948000" cy="433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Ảnh 1/4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2000" y="1296000"/>
            <a:ext cx="6948000" cy="433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Ảnh 2/4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5778000"/>
            <a:ext cx="6948000" cy="433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Ảnh 3/4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2000" y="5778000"/>
            <a:ext cx="6948000" cy="433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Ảnh 4/4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III. GIẢI PHÁP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404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3436"/>
                </a:solidFill>
                <a:latin typeface="Arial"/>
              </a:defRPr>
            </a:pPr>
            <a:r>
              <a:t>Ý TƯỞNG THIẾT KẾ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800000" cy="54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296000"/>
            <a:ext cx="6948000" cy="433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Ảnh 1/4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2000" y="1296000"/>
            <a:ext cx="6948000" cy="433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Ảnh 2/4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5778000"/>
            <a:ext cx="6948000" cy="433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Ảnh 3/4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2000" y="5778000"/>
            <a:ext cx="6948000" cy="433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Ảnh 4/4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IV. QUY MÔ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404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3436"/>
                </a:solidFill>
                <a:latin typeface="Arial"/>
              </a:defRPr>
            </a:pPr>
            <a:r>
              <a:t>QUY MÔ HỌC SINH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800000" cy="54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368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totalHS: {{totalHS}}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692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totalLop: {{totalLop}}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siSo: {{siSo}}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340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numK: {{numK}}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664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kLop: {{kLop}}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2988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dtPerHS: {{dtPerHS}}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3312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hsBT: {{hsBT}}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636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pctBT: {{pctBT}}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9792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B8"/>
                </a:solidFill>
                <a:latin typeface="Arial"/>
              </a:defRPr>
            </a:pPr>
            <a:r>
              <a:t>* Số liệu tự động điền từ Concept² — Bảng quy mô 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IV. QUY MÔ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404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3436"/>
                </a:solidFill>
                <a:latin typeface="Arial"/>
              </a:defRPr>
            </a:pPr>
            <a:r>
              <a:t>CÁN BỘ GIÁO VIÊN &amp; NHÂN VIÊN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800000" cy="54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368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totalCBGV: {{totalCBGV}}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692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qlTotal: {{qlTotal}}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gvTotal: {{gvTotal}}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340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nvTotal: {{nvTotal}}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9792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B8"/>
                </a:solidFill>
                <a:latin typeface="Arial"/>
              </a:defRPr>
            </a:pPr>
            <a:r>
              <a:t>* Số liệu tự động điền từ Concept² — Bảng CBGV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IV. QUY MÔ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404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3436"/>
                </a:solidFill>
                <a:latin typeface="Arial"/>
              </a:defRPr>
            </a:pPr>
            <a:r>
              <a:t>PHÒNG CHỨC NĂNG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800000" cy="54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368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totalPhong: {{totalPhong}}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692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totalDTPhong: {{totalDTPhong}}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dtHL: {{dtHL}}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9792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B8"/>
                </a:solidFill>
                <a:latin typeface="Arial"/>
              </a:defRPr>
            </a:pPr>
            <a:r>
              <a:t>* Số liệu tự động điền từ Concept² — Bảng phòng CN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IV. QUY MÔ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404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3436"/>
                </a:solidFill>
                <a:latin typeface="Arial"/>
              </a:defRPr>
            </a:pPr>
            <a:r>
              <a:t>CƠ CẤU SỬ DỤNG ĐẤT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800000" cy="54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368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dt: {{dt}}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692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dtXD: {{dtXD}}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dtSan: {{dtSan}}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340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soTang: {{soTang}}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664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matDo: {{matDo}}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2988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sanChoi: {{sanChoi}}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3312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cayXanh: {{cayXanh}}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636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dtGT: {{dtGT}}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3960000"/>
            <a:ext cx="14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6"/>
                </a:solidFill>
                <a:latin typeface="Arial"/>
              </a:defRPr>
            </a:pPr>
            <a:r>
              <a:t>totalXe: {{totalXe}}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9792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B8"/>
                </a:solidFill>
                <a:latin typeface="Arial"/>
              </a:defRPr>
            </a:pPr>
            <a:r>
              <a:t>* Số liệu tự động điền từ Concept² — Bảng cơ cấu đất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V. PHƯƠNG ÁN THIẾT KẾ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8000"/>
            <a:ext cx="14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436"/>
                </a:solidFill>
                <a:latin typeface="Arial"/>
              </a:defRPr>
            </a:pPr>
            <a:r>
              <a:t>TỔNG MẶT BẰNG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720000"/>
            <a:ext cx="14040000" cy="9324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1 ảnh tổng mặt bằng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9900000"/>
            <a:ext cx="13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Arial"/>
              </a:defRPr>
            </a:pPr>
            <a:r>
              <a:t>{{dt}}  |  {{matDo}}  |  {{totalHS}}  |  {{totalLop}}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V. PHƯƠNG ÁN THIẾT KẾ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8000"/>
            <a:ext cx="14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436"/>
                </a:solidFill>
                <a:latin typeface="Arial"/>
              </a:defRPr>
            </a:pPr>
            <a:r>
              <a:t>PHỐI CẢNH TỔNG THỂ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720000"/>
            <a:ext cx="14040000" cy="9324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1 ảnh phối cảnh bird-eye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V. PHƯƠNG ÁN THIẾT KẾ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8000"/>
            <a:ext cx="14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436"/>
                </a:solidFill>
                <a:latin typeface="Arial"/>
              </a:defRPr>
            </a:pPr>
            <a:r>
              <a:t>PHỐI CẢNH GÓC 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720000"/>
            <a:ext cx="14040000" cy="9324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1 ảnh phối cảnh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V. PHƯƠNG ÁN THIẾT KẾ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8000"/>
            <a:ext cx="14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436"/>
                </a:solidFill>
                <a:latin typeface="Arial"/>
              </a:defRPr>
            </a:pPr>
            <a:r>
              <a:t>PHỐI CẢNH GÓC 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720000"/>
            <a:ext cx="14040000" cy="9324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1 ảnh phối cảnh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V. PHƯƠNG ÁN THIẾT KẾ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8000"/>
            <a:ext cx="14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436"/>
                </a:solidFill>
                <a:latin typeface="Arial"/>
              </a:defRPr>
            </a:pPr>
            <a:r>
              <a:t>PHỐI CẢNH GÓC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720000"/>
            <a:ext cx="14040000" cy="9324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1 ảnh phối cảnh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V. PHƯƠNG ÁN THIẾT KẾ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8000"/>
            <a:ext cx="14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436"/>
                </a:solidFill>
                <a:latin typeface="Arial"/>
              </a:defRPr>
            </a:pPr>
            <a:r>
              <a:t>PHỐI CẢNH NỘI THẤT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720000"/>
            <a:ext cx="14040000" cy="9324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1 ảnh nội thất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V. PHƯƠNG ÁN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404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3436"/>
                </a:solidFill>
                <a:latin typeface="Arial"/>
              </a:defRPr>
            </a:pPr>
            <a:r>
              <a:t>MẶT ĐỨNG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800000" cy="54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296000"/>
            <a:ext cx="6948000" cy="8820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2 ảnh mặt đứng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2000" y="1296000"/>
            <a:ext cx="6948000" cy="8820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2 ảnh mặt đứng (2/2)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VI. BẢN VẼ KỸ THUẬT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8000"/>
            <a:ext cx="14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436"/>
                </a:solidFill>
                <a:latin typeface="Arial"/>
              </a:defRPr>
            </a:pPr>
            <a:r>
              <a:t>MẶT BẰNG TẦNG 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720000"/>
            <a:ext cx="14040000" cy="9324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1 ảnh mặt bằng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VI. BẢN VẼ KỸ THUẬT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8000"/>
            <a:ext cx="14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436"/>
                </a:solidFill>
                <a:latin typeface="Arial"/>
              </a:defRPr>
            </a:pPr>
            <a:r>
              <a:t>MẶT BẰNG TẦNG 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720000"/>
            <a:ext cx="14040000" cy="9324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1 ảnh mặt bằng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VI. BẢN VẼ KỸ THUẬT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8000"/>
            <a:ext cx="14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436"/>
                </a:solidFill>
                <a:latin typeface="Arial"/>
              </a:defRPr>
            </a:pPr>
            <a:r>
              <a:t>MẶT BẰNG TẦNG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720000"/>
            <a:ext cx="14040000" cy="9324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1 ảnh mặt bằng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VI. BẢN VẼ KỸ THUẬT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8000"/>
            <a:ext cx="14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436"/>
                </a:solidFill>
                <a:latin typeface="Arial"/>
              </a:defRPr>
            </a:pPr>
            <a:r>
              <a:t>MẶT BẰNG TẦNG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720000"/>
            <a:ext cx="14040000" cy="9324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1 ảnh mặt bằng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0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14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C5CE7"/>
                </a:solidFill>
                <a:latin typeface="Arial"/>
              </a:defRPr>
            </a:pPr>
            <a:r>
              <a:t>VI. BẢN VẼ KỸ THUẬT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60000"/>
            <a:ext cx="15120000" cy="43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3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{{tenDA}} | {{diaDiem}}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0" y="10332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B8"/>
                </a:solidFill>
                <a:latin typeface="Arial"/>
              </a:defRPr>
            </a:pPr>
            <a:r>
              <a:t>Concept² — {{dvTK}}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8000"/>
            <a:ext cx="14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436"/>
                </a:solidFill>
                <a:latin typeface="Arial"/>
              </a:defRPr>
            </a:pPr>
            <a:r>
              <a:t>MẶT CẮT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720000"/>
            <a:ext cx="14040000" cy="9324000"/>
          </a:xfrm>
          <a:prstGeom prst="rect">
            <a:avLst/>
          </a:prstGeom>
          <a:solidFill>
            <a:srgbClr val="F5F6FA"/>
          </a:solidFill>
          <a:ln w="12700">
            <a:solidFill>
              <a:srgbClr val="D5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>
                <a:solidFill>
                  <a:srgbClr val="9CA3B8"/>
                </a:solidFill>
                <a:latin typeface="Arial"/>
              </a:defRPr>
            </a:pPr>
            <a:r>
              <a:t>1 ảnh mặt cắt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2D3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0000" y="1440000"/>
            <a:ext cx="1800000" cy="54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626000"/>
            <a:ext cx="13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CẢM 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418000"/>
            <a:ext cx="13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5CE7"/>
                </a:solidFill>
                <a:latin typeface="Arial"/>
              </a:defRPr>
            </a:pPr>
            <a:r>
              <a:t>{{tenDA}}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922000"/>
            <a:ext cx="13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B8"/>
                </a:solidFill>
                <a:latin typeface="Arial"/>
              </a:defRPr>
            </a:pPr>
            <a:r>
              <a:t>Chủ đầu tư: {{chuDT}}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282000"/>
            <a:ext cx="13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B8"/>
                </a:solidFill>
                <a:latin typeface="Arial"/>
              </a:defRPr>
            </a:pPr>
            <a:r>
              <a:t>Đơn vị tư vấn: {{dvTK}}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9792000"/>
            <a:ext cx="13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C5CE7"/>
                </a:solidFill>
                <a:latin typeface="Arial"/>
              </a:defRPr>
            </a:pPr>
            <a:r>
              <a:t>Concept²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